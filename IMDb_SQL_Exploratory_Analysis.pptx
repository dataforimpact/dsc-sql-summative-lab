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9436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30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SQL Summative Lab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114300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A6B7"/>
                </a:solidFill>
              </a:rPr>
              <a:t>Part 2: IMDb Exploratory Analysis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94360" y="1719072"/>
            <a:ext cx="3429000" cy="0"/>
          </a:xfrm>
          <a:prstGeom prst="line">
            <a:avLst/>
          </a:prstGeom>
          <a:noFill/>
          <a:ln w="25400">
            <a:solidFill>
              <a:srgbClr val="00B8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21488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3040"/>
                </a:solidFill>
              </a:rPr>
              <a:t>Focus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2542032"/>
            <a:ext cx="361188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32E"/>
                </a:solidFill>
              </a:rPr>
              <a:t>Identify high-value content patterns using movies released from 2010–2019, ratings, votes, genres, and runtimes.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94360" y="38404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3040"/>
                </a:solidFill>
              </a:rPr>
              <a:t>Deliverables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4224528"/>
            <a:ext cx="361188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A6772"/>
                </a:solidFill>
              </a:rPr>
              <a:t>Exploration findings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A6772"/>
                </a:solidFill>
              </a:rPr>
              <a:t>Business question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A6772"/>
                </a:solidFill>
              </a:rPr>
              <a:t>Cleaning assessment</a:t>
            </a:r>
            <a:endParaRPr lang="en-US" sz="1500" dirty="0"/>
          </a:p>
        </p:txBody>
      </p:sp>
      <p:pic>
        <p:nvPicPr>
          <p:cNvPr id="9" name="Image 0" descr="/mnt/data/movie_data_erd.jpeg">    </p:cNvPr>
          <p:cNvPicPr>
            <a:picLocks noChangeAspect="1"/>
          </p:cNvPicPr>
          <p:nvPr/>
        </p:nvPicPr>
        <p:blipFill>
          <a:blip r:embed="rId1"/>
          <a:srcRect l="6971" r="6971" t="0" b="0"/>
          <a:stretch/>
        </p:blipFill>
        <p:spPr>
          <a:xfrm>
            <a:off x="5166360" y="594360"/>
            <a:ext cx="6309360" cy="53492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166360" y="6080760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772"/>
                </a:solidFill>
              </a:rPr>
              <a:t>Entity relationships guided joins across movie, ratings, genre, and person tables.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94360" y="6519672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772"/>
                </a:solidFill>
              </a:rPr>
              <a:t>SQL Summative Lab · Part 2 IMDb Analysis · 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AA6B7"/>
          </a:solidFill>
          <a:ln w="12700">
            <a:solidFill>
              <a:srgbClr val="1AA6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8961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3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Initial exploration: clean scope first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03504" y="868680"/>
            <a:ext cx="9052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772"/>
                </a:solidFill>
              </a:rPr>
              <a:t>Filtered to valid rated movies from 2010–2019 and excluded null analytical fields.</a:t>
            </a:r>
            <a:endParaRPr lang="en-US" sz="950" dirty="0"/>
          </a:p>
        </p:txBody>
      </p:sp>
      <p:pic>
        <p:nvPicPr>
          <p:cNvPr id="5" name="Image 0" descr="/mnt/data/part2_movies_by_year.png">    </p:cNvPr>
          <p:cNvPicPr>
            <a:picLocks noChangeAspect="1"/>
          </p:cNvPicPr>
          <p:nvPr/>
        </p:nvPicPr>
        <p:blipFill>
          <a:blip r:embed="rId1"/>
          <a:srcRect l="9005" r="9005" t="0" b="0"/>
          <a:stretch/>
        </p:blipFill>
        <p:spPr>
          <a:xfrm>
            <a:off x="594360" y="1325880"/>
            <a:ext cx="6492240" cy="4343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35240" y="141732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03040"/>
                </a:solidFill>
              </a:rPr>
              <a:t>65,720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662672" y="193852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A6772"/>
                </a:solidFill>
              </a:rPr>
              <a:t>valid rated movies after excluding nulls and post-2019 records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635240" y="274320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A6B7"/>
                </a:solidFill>
              </a:rPr>
              <a:t>259.9M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7662672" y="327355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A6772"/>
                </a:solidFill>
              </a:rPr>
              <a:t>total audience votes across the cleaned rated-movie dataset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635240" y="42245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2E"/>
                </a:solidFill>
              </a:rPr>
              <a:t>Key finding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662672" y="4599432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7232E"/>
                </a:solidFill>
              </a:rPr>
              <a:t>Ratings stay relatively stable by year, so genre and runtime are better candidates for deeper business analysis.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94360" y="6519672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772"/>
                </a:solidFill>
              </a:rPr>
              <a:t>SQL Summative Lab · Part 2 IMDb Analysis · 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AA6B7"/>
          </a:solidFill>
          <a:ln w="12700">
            <a:solidFill>
              <a:srgbClr val="1AA6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8961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3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 question: where is audience engagement strongest?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03504" y="868680"/>
            <a:ext cx="9052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772"/>
                </a:solidFill>
              </a:rPr>
              <a:t>Metric used: vote-weighted rating so highly-voted movies influence the result more than lightly-voted titles.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3258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A6B7"/>
                </a:solidFill>
              </a:rPr>
              <a:t>Question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664208"/>
            <a:ext cx="324612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32E"/>
                </a:solidFill>
              </a:rPr>
              <a:t>Which genres and runtime ranges provide the strongest audience engagement for movies released from 2010 to 2019?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4360" y="31546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A6B7"/>
                </a:solidFill>
              </a:rPr>
              <a:t>Why it matters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3511296"/>
            <a:ext cx="3246120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A6772"/>
                </a:solidFill>
              </a:rPr>
              <a:t>Genre strength combines audience reach with quality. This can inform content acquisition, production strategy, and recommendation priorities.</a:t>
            </a:r>
            <a:endParaRPr lang="en-US" sz="1400" dirty="0"/>
          </a:p>
        </p:txBody>
      </p:sp>
      <p:pic>
        <p:nvPicPr>
          <p:cNvPr id="9" name="Image 0" descr="/mnt/data/part2_top_genres_weighted_rating.png">    </p:cNvPr>
          <p:cNvPicPr>
            <a:picLocks noChangeAspect="1"/>
          </p:cNvPicPr>
          <p:nvPr/>
        </p:nvPicPr>
        <p:blipFill>
          <a:blip r:embed="rId1"/>
          <a:srcRect l="4292" r="4292" t="0" b="0"/>
          <a:stretch/>
        </p:blipFill>
        <p:spPr>
          <a:xfrm>
            <a:off x="4389120" y="1188720"/>
            <a:ext cx="7086600" cy="4892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94360" y="6519672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772"/>
                </a:solidFill>
              </a:rPr>
              <a:t>SQL Summative Lab · Part 2 IMDb Analysis · 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AA6B7"/>
          </a:solidFill>
          <a:ln w="12700">
            <a:solidFill>
              <a:srgbClr val="1AA6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8961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3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Cleaning assessment and next steps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03504" y="868680"/>
            <a:ext cx="9052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772"/>
                </a:solidFill>
              </a:rPr>
              <a:t>Reliable insights require reducing nulls, duplicate-driven joins, and multi-valued fields before deeper modeling.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3040"/>
                </a:solidFill>
              </a:rPr>
              <a:t>Cleaning tasks identified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4663440" cy="2194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232E"/>
                </a:solidFill>
              </a:rPr>
              <a:t>• Exclude movies after 2019 and null analytical fields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7232E"/>
                </a:solidFill>
              </a:rPr>
              <a:t>• Normalize comma-separated genres into a movie-to-genre table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7232E"/>
                </a:solidFill>
              </a:rPr>
              <a:t>• Prevent duplicate counts when joining multi-row tables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7232E"/>
                </a:solidFill>
              </a:rPr>
              <a:t>• Standardize text fields such as region, language, roles, and genre labels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7232E"/>
                </a:solidFill>
              </a:rPr>
              <a:t>• Investigate unrealistic runtime outliers before recommendations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537960" y="141732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A6B7"/>
                </a:solidFill>
              </a:rPr>
              <a:t>Recommendation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583680" y="1920240"/>
            <a:ext cx="4389120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232E"/>
                </a:solidFill>
              </a:rPr>
              <a:t>Prioritize deeper investigation into high weighted-rating genres, then validate demand using total votes, runtime bands, and title-level examples. This balances quality with audience scale.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37960" y="406908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3040"/>
                </a:solidFill>
              </a:rPr>
              <a:t>Next SQL pass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83680" y="4434840"/>
            <a:ext cx="438912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A6772"/>
                </a:solidFill>
              </a:rPr>
              <a:t>Add title-level drilldowns for top genres, compare directors/writers where data is complete, and build genre-normalized tables before final reporting.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94360" y="6519672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772"/>
                </a:solidFill>
              </a:rPr>
              <a:t>SQL Summative Lab · Part 2 IMDb Analysis · 4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Moringa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 Summative Lab Part 2</dc:title>
  <dc:subject>SQL Summative Lab Part 2 IMDb exploratory analysis</dc:subject>
  <dc:creator>Richard Okello</dc:creator>
  <cp:lastModifiedBy>Richard Okello</cp:lastModifiedBy>
  <cp:revision>1</cp:revision>
  <dcterms:created xsi:type="dcterms:W3CDTF">2026-07-28T12:16:30Z</dcterms:created>
  <dcterms:modified xsi:type="dcterms:W3CDTF">2026-07-28T12:16:30Z</dcterms:modified>
</cp:coreProperties>
</file>